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473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502920" y="2148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TRANSICIÓN · CURSO AI PROJECT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487168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PoC al MVP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6118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con FastAPI + FastMCP, frontend estático, y un camino opcional de despliegue en Vercel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443484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502920" y="5989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trabajo para equipos de desarrollo · Incluye prompts para Claude Code, Codex y agentes similares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63093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de referencia: agosto de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ESTA SESIÓN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Convertir el PoC en un MVP funcional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5855" cy="1600200"/>
          </a:xfrm>
          <a:prstGeom prst="roundRect">
            <a:avLst>
              <a:gd name="adj" fmla="val 4571"/>
            </a:avLst>
          </a:prstGeom>
          <a:solidFill>
            <a:srgbClr val="E7F3F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704088" y="1746504"/>
            <a:ext cx="10783519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kern="0" spc="80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 DE ESTA GUÍA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Acompañar a cada equipo para transformar el PoC de la sesión anterior en un MVP funcional, pequeño, demostrable y mantenible — en una sola sesión de trabajo.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3383280"/>
            <a:ext cx="11185855" cy="1143000"/>
          </a:xfrm>
          <a:prstGeom prst="roundRect">
            <a:avLst>
              <a:gd name="adj" fmla="val 64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704088" y="3529584"/>
            <a:ext cx="10783519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kern="0" spc="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VIVE LA COMPLEJIDAD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complejidad vive en el backend (agente + servidor de herramientas). El frontend se mantiene deliberadamente simple.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4709160"/>
            <a:ext cx="11185855" cy="1234440"/>
          </a:xfrm>
          <a:prstGeom prst="roundRect">
            <a:avLst>
              <a:gd name="adj" fmla="val 5926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704088" y="4855464"/>
            <a:ext cx="10783519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kern="0" spc="80" dirty="0">
                <a:solidFill>
                  <a:srgbClr val="A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CENTRAL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migres todas las tools del PoC. Elige primero una capacidad crítica que ya haya demostrado valor, conviértela en un servidor FastMCP, y construye el MVP alrededor de ella.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ORGANIZA ESTA GUÍA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 de aprendizaje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247120" cy="2572512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esperado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Confirmar que el PoC está listo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Marcas los 4 criterios de cierre que ya define tu propio notebook.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Releer fichas y elegir tu capacidad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Identificas una capacidad prioritaria, su fuente de datos y sus límites.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el proyecto y la estructura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 pequeña, ejecutable y versionada con Git — compatible con Vercel desde el día uno.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Publicar una tool con FastMCP (stateless)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función del dominio queda disponible como herramienta MCP.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Conectar el agente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descubre la tool por MCP y la usa para responder.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FastAPI + frontend estático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Alguien puede hacer una consulta real desde el navegador, en local.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Probar y documentar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Casos feliz, límite y fuera de alcance, más un README reproducible.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(Opcional) Desplegar en Vercel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URL pública real, si el tiempo alcanza.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la guía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394960" cy="603504"/>
          </a:xfrm>
          <a:prstGeom prst="roundRect">
            <a:avLst>
              <a:gd name="adj" fmla="val 1060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¿Tu PoC está listo para esto?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450592"/>
            <a:ext cx="5394960" cy="603504"/>
          </a:xfrm>
          <a:prstGeom prst="roundRect">
            <a:avLst>
              <a:gd name="adj" fmla="val 1060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731520" y="245059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Qué cambia entre el PoC y el MVP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3163824"/>
            <a:ext cx="5394960" cy="603504"/>
          </a:xfrm>
          <a:prstGeom prst="roundRect">
            <a:avLst>
              <a:gd name="adj" fmla="val 1060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731520" y="3163824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Elige tu camino según tu ruta del PoC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877056"/>
            <a:ext cx="5394960" cy="603504"/>
          </a:xfrm>
          <a:prstGeom prst="roundRect">
            <a:avLst>
              <a:gd name="adj" fmla="val 1060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731520" y="3877056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Arquitectura mínima del MVP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4590288"/>
            <a:ext cx="5394960" cy="603504"/>
          </a:xfrm>
          <a:prstGeom prst="roundRect">
            <a:avLst>
              <a:gd name="adj" fmla="val 1060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731520" y="4590288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Estructura de proyecto (lista para Vercel)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5303520"/>
            <a:ext cx="5394960" cy="603504"/>
          </a:xfrm>
          <a:prstGeom prst="roundRect">
            <a:avLst>
              <a:gd name="adj" fmla="val 1060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731520" y="530352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Paso a paso: del PoC al MVP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9360" y="1737360"/>
            <a:ext cx="5394960" cy="603504"/>
          </a:xfrm>
          <a:prstGeom prst="roundRect">
            <a:avLst>
              <a:gd name="adj" fmla="val 1060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6537960" y="173736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Pruebas, trazabilidad y aceptación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09360" y="2450592"/>
            <a:ext cx="5394960" cy="603504"/>
          </a:xfrm>
          <a:prstGeom prst="roundRect">
            <a:avLst>
              <a:gd name="adj" fmla="val 10606"/>
            </a:avLst>
          </a:prstGeom>
          <a:solidFill>
            <a:srgbClr val="E7F3F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 txBox="1"/>
          <p:nvPr/>
        </p:nvSpPr>
        <p:spPr>
          <a:xfrm>
            <a:off x="6537960" y="245059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Despliegue opcional en Vercel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09360" y="3163824"/>
            <a:ext cx="5394960" cy="603504"/>
          </a:xfrm>
          <a:prstGeom prst="roundRect">
            <a:avLst>
              <a:gd name="adj" fmla="val 1060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 txBox="1"/>
          <p:nvPr/>
        </p:nvSpPr>
        <p:spPr>
          <a:xfrm>
            <a:off x="6537960" y="3163824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Prompts para agentes de codificación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309360" y="3877056"/>
            <a:ext cx="5394960" cy="603504"/>
          </a:xfrm>
          <a:prstGeom prst="roundRect">
            <a:avLst>
              <a:gd name="adj" fmla="val 1060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 txBox="1"/>
          <p:nvPr/>
        </p:nvSpPr>
        <p:spPr>
          <a:xfrm>
            <a:off x="6537960" y="3877056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Seguridad y errores frecuentes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09360" y="4590288"/>
            <a:ext cx="5394960" cy="603504"/>
          </a:xfrm>
          <a:prstGeom prst="roundRect">
            <a:avLst>
              <a:gd name="adj" fmla="val 1060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 txBox="1"/>
          <p:nvPr/>
        </p:nvSpPr>
        <p:spPr>
          <a:xfrm>
            <a:off x="6537960" y="4590288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Entregable final y rúbrica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309360" y="5303520"/>
            <a:ext cx="5394960" cy="603504"/>
          </a:xfrm>
          <a:prstGeom prst="roundRect">
            <a:avLst>
              <a:gd name="adj" fmla="val 1060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 txBox="1"/>
          <p:nvPr/>
        </p:nvSpPr>
        <p:spPr>
          <a:xfrm>
            <a:off x="6537960" y="530352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Referencias técnicas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· GUÍA DE ARQUITECTURAS PARA TU POC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patrones, un mismo Pasaporte del PoC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121408" cy="228600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A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649224" y="183794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RAG simple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9224" y="2404872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E7F3F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649224" y="2404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Complejidad: baja</a:t>
            </a:r>
            <a:endParaRPr lang="en-US" sz="830" dirty="0"/>
          </a:p>
        </p:txBody>
      </p:sp>
      <p:sp>
        <p:nvSpPr>
          <p:cNvPr id="8" name="Text 6"/>
          <p:cNvSpPr txBox="1"/>
          <p:nvPr/>
        </p:nvSpPr>
        <p:spPr>
          <a:xfrm>
            <a:off x="649224" y="2752344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6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sobre un corpus estable; recuperación fija en cada pregunta.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2766060" y="1691640"/>
            <a:ext cx="2121408" cy="228600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A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2912364" y="183794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Agentic RAG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912364" y="2404872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FBF0D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2912364" y="2404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9C6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Complejidad: media</a:t>
            </a:r>
            <a:endParaRPr lang="en-US" sz="830" dirty="0"/>
          </a:p>
        </p:txBody>
      </p:sp>
      <p:sp>
        <p:nvSpPr>
          <p:cNvPr id="13" name="Text 11"/>
          <p:cNvSpPr txBox="1"/>
          <p:nvPr/>
        </p:nvSpPr>
        <p:spPr>
          <a:xfrm>
            <a:off x="2912364" y="2752344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6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decide si, cuándo y cuántas veces buscar.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5029200" y="1691640"/>
            <a:ext cx="2121408" cy="228600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A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5175504" y="183794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Multi-tool sin MCP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175504" y="2404872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FBF0D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5175504" y="2404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9C6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Complejidad: media</a:t>
            </a:r>
            <a:endParaRPr lang="en-US" sz="830" dirty="0"/>
          </a:p>
        </p:txBody>
      </p:sp>
      <p:sp>
        <p:nvSpPr>
          <p:cNvPr id="18" name="Text 16"/>
          <p:cNvSpPr txBox="1"/>
          <p:nvPr/>
        </p:nvSpPr>
        <p:spPr>
          <a:xfrm>
            <a:off x="5175504" y="2752344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6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capacidades propias; todo corre en tu notebook.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7292340" y="1691640"/>
            <a:ext cx="2121408" cy="228600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A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7438644" y="183794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Multi-tool con MCP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438644" y="2404872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FBF0D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7438644" y="2404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9C6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Complejidad: media-alta</a:t>
            </a:r>
            <a:endParaRPr lang="en-US" sz="830" dirty="0"/>
          </a:p>
        </p:txBody>
      </p:sp>
      <p:sp>
        <p:nvSpPr>
          <p:cNvPr id="23" name="Text 21"/>
          <p:cNvSpPr txBox="1"/>
          <p:nvPr/>
        </p:nvSpPr>
        <p:spPr>
          <a:xfrm>
            <a:off x="7438644" y="2752344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6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que deben reutilizarse desde otro agente, equipo o cliente.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555480" y="1691640"/>
            <a:ext cx="2121408" cy="228600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A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 txBox="1"/>
          <p:nvPr/>
        </p:nvSpPr>
        <p:spPr>
          <a:xfrm>
            <a:off x="9701784" y="183794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LangGraph multiagente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701784" y="2404872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 txBox="1"/>
          <p:nvPr/>
        </p:nvSpPr>
        <p:spPr>
          <a:xfrm>
            <a:off x="9701784" y="2404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A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Complejidad: alta</a:t>
            </a:r>
            <a:endParaRPr lang="en-US" sz="830" dirty="0"/>
          </a:p>
        </p:txBody>
      </p:sp>
      <p:sp>
        <p:nvSpPr>
          <p:cNvPr id="28" name="Text 26"/>
          <p:cNvSpPr txBox="1"/>
          <p:nvPr/>
        </p:nvSpPr>
        <p:spPr>
          <a:xfrm>
            <a:off x="9701784" y="2752344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6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separados, con acuerdo explícito del docente antes de construirlo.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502920" y="4233672"/>
            <a:ext cx="11185855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 txBox="1"/>
          <p:nvPr/>
        </p:nvSpPr>
        <p:spPr>
          <a:xfrm>
            <a:off x="704088" y="4379976"/>
            <a:ext cx="10783519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kern="0" spc="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DIRECTO HACIA UN MVP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el Patrón 4 (multi-tool con MCP): tu Ficha 2 ya apunta hacia una arquitectura de servicio separada. Construir el servidor de tools ahora, aunque sea en modo local, es trabajo que reutilizarás sin rehacerlo al migrar.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LA PUERTA DE ENTRADA, NO UN TRÁMITE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¿Tu PoC está listo para esto?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7276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propio notebook del PoC ya define, en su última celda, cuándo un PoC está listo para convertirse en MVP. No inventamos un criterio nuevo: usamos exactamente ese.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331720"/>
            <a:ext cx="11185855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resuelve al menos un caso real de principio a fin usando tus tools.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 cuándo no sabe y respeta tu política de “nunca inventar”.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trazas en LangSmith (o evidencia equivalente) para depurar su comportamiento.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Sabes qué pieza endurecer primero para pasar de PoC a producción.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4892040"/>
            <a:ext cx="11185855" cy="1005840"/>
          </a:xfrm>
          <a:prstGeom prst="roundRect">
            <a:avLst>
              <a:gd name="adj" fmla="val 7273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704088" y="5038344"/>
            <a:ext cx="107835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kern="0" spc="80" dirty="0">
                <a:solidFill>
                  <a:srgbClr val="A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ENTRADA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alguno de los cuatro puntos no se cumple, no sigas: vuelve al PoC. El MVP hereda las fallas del PoC — no las arregla por arte de magia.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DE SEPARAR RESPONSABILIDADES, NO DE AGREGAR TECNOLOGÍA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cambia entre el PoC y el MVP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247120" cy="2263140"/>
        </p:xfrm>
        <a:graphic>
          <a:graphicData uri="http://schemas.openxmlformats.org/drawingml/2006/table">
            <a:tbl>
              <a:tblPr/>
              <a:tblGrid>
                <a:gridCol w="493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el PoC anterior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el nuevo MVP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 como espacio principal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 Python con archivos separados; notebook opcional para exploración.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o consola como interfaz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Página estática (HTML + JS) servida por el propio backend, sin dependencias nuevas.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locales en el mismo proceso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expuestas por un servidor FastMCP independiente, en modo stateless.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manuales dentro de celdas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reproducibles (script) y casos de aceptación definidos.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único modelo obligatorio (Nemotron gratuito)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Elección libre de proveedor. Nemotron vía OpenRouter sigue disponible sin costo.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 solo en tu máquina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 en tu máquina. Publicar una URL en Vercel es opcional, no un requisito.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demostración puntual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MVP que otra persona puede clonar, configurar y ejecutar.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EL CASO DE USO SIGUE SIENDO EL ORIGEN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insumos previos no cambian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72768"/>
          <a:ext cx="11247120" cy="14173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Insumo previo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Decisión que debe aparecer en el MVP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Ficha 1: caso de uso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Objetivo, usuarios, alcance, política de incertidumbre, formato de respuesta y pruebas de aceptación.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Ficha 2: arquitectura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 de modelo, uso de MCP, tipo de transporte, datos consultados y componentes necesarios.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Ficha 3: datos y ETL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Fuente de verdad, criterios de limpieza, controles de acceso, trazabilidad y estructura de la respuesta.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 previo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o flujo que ya funcionó y que ahora se formaliza como una capacidad MCP.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160520"/>
            <a:ext cx="11185855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 txBox="1"/>
          <p:nvPr/>
        </p:nvSpPr>
        <p:spPr>
          <a:xfrm>
            <a:off x="704088" y="4306824"/>
            <a:ext cx="10783519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kern="0" spc="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MCP AGREGA VALOR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quieres desacoplar el agente de la implementación de una herramienta · Cuando una capacidad puede reutilizarse desde otro agente, interfaz o cliente compatible con MCP · Cuando quieres documentar con claridad qué operaciones están permitidas y cuáles no · Cuando la fuente de datos o API debe tener sus propios límites, validaciones y manejo de errores.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3716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6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PUENTE HACIA LA SECCIÓN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87452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este MVP usamos un solo servidor MCP, en modo stateless: cada llamada abre un contexto nuevo, sin necesitar que dos solicitudes lleguen a la misma instancia.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9776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EB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exactamente el modo pensado para entornos donde no hay garantías de “instancia fija” — como el despliegue opcional en Vercel de la sección 8.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LA GUÍA DE TU POC TE HIZO ELEGIR ENTRE RUTA A, B O C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Elige tu camino según tu ruta del PoC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247120" cy="1068324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ruta en el PoC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camino en el MVP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 B o C — workflow o agente con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Sigue la guía completa, tal como está: secciones 4 a 8.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 A — llamada simple, sin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Sigue 4, 5, 6.1 y 6.2 igual. En 6.3-6.4, envuelve tu llamada como una tool FastMCP (cuesta apenas diez líneas) o, si no aporta nada, sáltate esas dos secciones y llama al modelo directo en 6.5. Documenta cuál elegiste y por qué.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160520"/>
            <a:ext cx="11185855" cy="960120"/>
          </a:xfrm>
          <a:prstGeom prst="roundRect">
            <a:avLst>
              <a:gd name="adj" fmla="val 7619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 txBox="1"/>
          <p:nvPr/>
        </p:nvSpPr>
        <p:spPr>
          <a:xfrm>
            <a:off x="704088" y="4306824"/>
            <a:ext cx="10783519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kern="0" spc="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una respuesta incorrecta aquí. Lo que importa es que la decisión quede escrita — igual que en el PoC, donde registrabas los cambios respecto a las fichas.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UNA CAPA PARA LA INTERFAZ, UNA PARA DECIDIR, UNA PARA CAPACIDADES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mínima del MVP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91840" y="1554480"/>
            <a:ext cx="5577840" cy="566928"/>
          </a:xfrm>
          <a:prstGeom prst="roundRect">
            <a:avLst>
              <a:gd name="adj" fmla="val 12903"/>
            </a:avLst>
          </a:prstGeom>
          <a:solidFill>
            <a:srgbClr val="F5F7FA"/>
          </a:solidFill>
          <a:ln w="12700">
            <a:solidFill>
              <a:srgbClr val="5A6B8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3429000" y="155448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una pregunta en el navegador y lee la respuesta.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21214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91840" y="2267712"/>
            <a:ext cx="5577840" cy="566928"/>
          </a:xfrm>
          <a:prstGeom prst="roundRect">
            <a:avLst>
              <a:gd name="adj" fmla="val 12903"/>
            </a:avLst>
          </a:prstGeom>
          <a:solidFill>
            <a:srgbClr val="E7F3F1"/>
          </a:solidFill>
          <a:ln w="12700">
            <a:solidFill>
              <a:srgbClr val="1F7A7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3429000" y="2267712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+ static/app.js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estática. Sin reglas de negocio ni llamadas directas a datos.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83464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91840" y="2980944"/>
            <a:ext cx="5577840" cy="566928"/>
          </a:xfrm>
          <a:prstGeom prst="roundRect">
            <a:avLst>
              <a:gd name="adj" fmla="val 12903"/>
            </a:avLst>
          </a:prstGeom>
          <a:solidFill>
            <a:srgbClr val="E7F3F1"/>
          </a:solidFill>
          <a:ln w="12700">
            <a:solidFill>
              <a:srgbClr val="1F7A7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3429000" y="2980944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api/chat.py (FastAPI)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Orquestador de la interfaz. Sirve la página, expone /api/chat, invoca al agente.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35478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91840" y="3694176"/>
            <a:ext cx="5577840" cy="566928"/>
          </a:xfrm>
          <a:prstGeom prst="roundRect">
            <a:avLst>
              <a:gd name="adj" fmla="val 12903"/>
            </a:avLst>
          </a:prstGeom>
          <a:solidFill>
            <a:srgbClr val="E7F3F1"/>
          </a:solidFill>
          <a:ln w="12700">
            <a:solidFill>
              <a:srgbClr val="1F7A7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3429000" y="369417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agent.py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el agente LangChain, descubre tools vía MCP, aplica el prompt.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4261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91840" y="4407408"/>
            <a:ext cx="5577840" cy="566928"/>
          </a:xfrm>
          <a:prstGeom prst="roundRect">
            <a:avLst>
              <a:gd name="adj" fmla="val 12903"/>
            </a:avLst>
          </a:prstGeom>
          <a:solidFill>
            <a:srgbClr val="D9EDE9"/>
          </a:solidFill>
          <a:ln w="12700">
            <a:solidFill>
              <a:srgbClr val="165F5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3429000" y="440740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api/mcp.py (FastMCP, stateless)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 capacidades con contratos tipados y límites claros.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497433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91840" y="5120640"/>
            <a:ext cx="5577840" cy="566928"/>
          </a:xfrm>
          <a:prstGeom prst="roundRect">
            <a:avLst>
              <a:gd name="adj" fmla="val 12903"/>
            </a:avLst>
          </a:prstGeom>
          <a:solidFill>
            <a:srgbClr val="F5F7FA"/>
          </a:solidFill>
          <a:ln w="12700">
            <a:solidFill>
              <a:srgbClr val="5A6B8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3429000" y="512064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 o API autorizada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verdad.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RESPONSABILIDADES QUE NO DEBEN MEZCLARSE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componente, una responsabilidad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247120" cy="222656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debe hacer y qué no debe hacer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index.html / app.js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Muestra la interfaz, envía la pregunta y pinta la respuesta. No consulta datos ni conoce al modelo.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api/chat.py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Sirve la página y expone /api/chat. No contiene lógica del agente ni SQL ni scraping.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Construye el agente, descubre tools por MCP y ejecuta la conversación. No importa la tool directamente.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prompts.py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 el comportamiento del agente: propósito, límites, uso de tools, no invención y formato.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api/mcp.py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las tools y comunica con datos o APIs. No conoce la interfaz ni el framework del frontend.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de demostración no sensibles. En producción se reemplazaría por una fuente controlada.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 comportamientos clave. No es una carpeta decorativa: contiene evidencia del funcionamiento.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DE LA PREGUNTA A LA RESPUESTA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una consulta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18488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502920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1600200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escribe una pregunta en la página.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50292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2221992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 envía un POST a /api/chat con esa pregunta.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862072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502920" y="2862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78408" y="2843784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api/chat.py llama a la función responder() de agent.py.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483864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502920" y="3483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78408" y="3465576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revisa el system prompt y las tools descubiertas vía MCP.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1618488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6400800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76288" y="1600200"/>
            <a:ext cx="4919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decide si debe llamar una tool y con qué parámetros.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2450592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6400800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76288" y="2432304"/>
            <a:ext cx="4919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api/mcp.py ejecuta la capacidad autorizada contra los datos o la API.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0" y="3282696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 txBox="1"/>
          <p:nvPr/>
        </p:nvSpPr>
        <p:spPr>
          <a:xfrm>
            <a:off x="6400800" y="3282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3264408"/>
            <a:ext cx="4919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vuelve al agente como evidencia; la respuesta final vuelve a app.js.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0" y="4114800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 txBox="1"/>
          <p:nvPr/>
        </p:nvSpPr>
        <p:spPr>
          <a:xfrm>
            <a:off x="6400800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876288" y="4096512"/>
            <a:ext cx="4919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muestra la respuesta, y reconoce explícitamente cuando falta evidencia.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5166360"/>
            <a:ext cx="11185855" cy="914400"/>
          </a:xfrm>
          <a:prstGeom prst="roundRect">
            <a:avLst>
              <a:gd name="adj" fmla="val 8000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 txBox="1"/>
          <p:nvPr/>
        </p:nvSpPr>
        <p:spPr>
          <a:xfrm>
            <a:off x="704088" y="5312664"/>
            <a:ext cx="1078351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kern="0" spc="80" dirty="0">
                <a:solidFill>
                  <a:srgbClr val="A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DE SEGURIDAD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puede decidir usar una tool, pero no debe tener permisos ilimitados. Cada tool debe ser estrecha, validada y diseñada para una acción concreta. En el MVP, prioriza lectura sobre escritura.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DELIBERADAMENTE PEQUEÑA, LISTA PARA VERCEL DESDE EL DÍA UNO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proyecto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36192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la convención de carpeta api/ que reconoce Vercel para funciones Python. No es obligatorio desplegar para beneficiarse de esto: ordenar el proyecto así evita reorganizar todo si más adelante intentan la sección 8.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342900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BF0D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704088" y="3575304"/>
            <a:ext cx="453542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kern="0" spc="80" dirty="0">
                <a:solidFill>
                  <a:srgbClr val="9C6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api/index.py se agrega recién en la sección 8, solo si intentan el despliegue opcional en Vercel.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80760" y="1536192"/>
            <a:ext cx="5605272" cy="4709160"/>
          </a:xfrm>
          <a:prstGeom prst="roundRect">
            <a:avLst>
              <a:gd name="adj" fmla="val 1165"/>
            </a:avLst>
          </a:prstGeom>
          <a:solidFill>
            <a:srgbClr val="0F183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6263640" y="1664208"/>
            <a:ext cx="523951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mi_mvp_mcp/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mcp_server.py      # Tools del dominio (FastMCP)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agent.py           # Agente LangChain + MCP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config.py          # Variables de entorno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prompts.py         # SYSTEM_PROMPT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         # Interfaz del chat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static/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app.js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style.css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api/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__init__.py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mcp.py         # Sirve mcp_server.py (HTTP)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chat.py        # FastAPI: UI + /api/chat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requirements.txt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.env.example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datos_demo.csv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tests/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test_smoke.py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UN ARCHIVO, UNA RESPONSABILIDAD CONCRETA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 por archivo</a:t>
            </a:r>
            <a:endParaRPr lang="en-US" sz="2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247120" cy="2287524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Responsabilidad concreta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mcp_server.py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las tools del dominio (@mcp.tool). No se ejecuta directamente.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Construye el agente LangChain + cliente MCP. Expone una función responder().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api/mcp.py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Sirve mcp_server.py como app ASGI independiente, en modo stateless.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api/chat.py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FastAPI: sirve index.html, monta /static, expone POST /api/chat.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config.py / prompts.py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de entorno y system prompt del agente.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requirements.txt / .env.example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Dependencias del MVP y plantilla de configuración sin secretos.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data/ / tests/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de ejemplo o muestras anónimas · prueba de humo y casos mínimos.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892040"/>
            <a:ext cx="11185855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 txBox="1"/>
          <p:nvPr/>
        </p:nvSpPr>
        <p:spPr>
          <a:xfrm>
            <a:off x="704088" y="5038344"/>
            <a:ext cx="10783519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kern="0" spc="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PARA SEPARAR ARCHIVOS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prematuramente en muchas capas hace que el trabajo se vuelva difícil de entender. El momento de crear más carpetas llega cuando un archivo mezcla responsabilidades o crece demasiado. Primero funciona; después se modulariza con evidencia.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 · ANTES DE ABRIR EL EDITOR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Selecciona una capacidad validada del PoC</a:t>
            </a:r>
            <a:endParaRPr lang="en-US" sz="27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72768"/>
          <a:ext cx="11247120" cy="2002536"/>
        </p:xfrm>
        <a:graphic>
          <a:graphicData uri="http://schemas.openxmlformats.org/drawingml/2006/table">
            <a:tbl>
              <a:tblPr/>
              <a:tblGrid>
                <a:gridCol w="685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 de decisión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 del equipo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consulta o acción ya funcionó en el PoC?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[Capacidad concreta]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usuario se beneficia?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[Perfil del usuario]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fuente de verdad utilizará?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[CSV, SQLite, documentos, API…]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devuelve la tool? / ¿Qué no puede hacer?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[Estructura, evidencia, límites]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¿Cómo se reconocerá la incertidumbre?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[Mensaje o conducta esperada]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tres pruebas demostrarán valor?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[Feliz, límite, fuera de alcance]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709160"/>
            <a:ext cx="11185855" cy="1234440"/>
          </a:xfrm>
          <a:prstGeom prst="roundRect">
            <a:avLst>
              <a:gd name="adj" fmla="val 5926"/>
            </a:avLst>
          </a:prstGeom>
          <a:solidFill>
            <a:srgbClr val="E7F3F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 txBox="1"/>
          <p:nvPr/>
        </p:nvSpPr>
        <p:spPr>
          <a:xfrm>
            <a:off x="704088" y="4855464"/>
            <a:ext cx="10783519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kern="0" spc="80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BUENA DEFINICIÓN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Capacidad: consultar indicadores de asistencia por curso y período. Fuente: CSV anonimizado. Tool: consultar_asistencia(curso, periodo). Límite: no entrega datos individuales ni modifica registros. Evidencia: curso, período, cantidad de registros y promedio calculado.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+ 6.2 · ENTORNO, ESTRUCTURA, CONFIGURACIÓN Y PROMPT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 el terreno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0F183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685800" y="170078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56816"/>
            <a:ext cx="512064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.venv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.venv/bin/activate  # macOS/Linux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data tests static api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 api/__init__.py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572768"/>
            <a:ext cx="5440680" cy="2331720"/>
          </a:xfrm>
          <a:prstGeom prst="roundRect">
            <a:avLst>
              <a:gd name="adj" fmla="val 2353"/>
            </a:avLst>
          </a:prstGeom>
          <a:solidFill>
            <a:srgbClr val="0F183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6446520" y="170078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 (mínimo)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956816"/>
            <a:ext cx="507492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uvicorn[standard]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fastmcp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langchain-openai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langchain-mcp-adapters&gt;=0.3.0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python-dotenv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406908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704088" y="4215384"/>
            <a:ext cx="508406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kern="0" spc="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.ENV.EXAMPLE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MODEL_ID · OPENROUTER_API_KEY · OPENROUTER_BASE_URL · MCP_URL=http://127.0.0.1:8001/ · LANGSMITH_TRACING / API_KEY / PROJECT. El modelo se configura por variables de entorno — nunca copies claves en código, README ni chats.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406908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BF0D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6464808" y="4215384"/>
            <a:ext cx="503834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kern="0" spc="80" dirty="0">
                <a:solidFill>
                  <a:srgbClr val="9C6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USES PROMPTS GENÉRICOS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prompts.py debe traducir tu Ficha 1: dominio, objetivo, reglas de no invención, alcance excluido y tipo de usuario. Si el prompt podría servir para cualquier proyecto, todavía no está listo.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· CONSTRUYE EL SERVIDOR FASTMCP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tool es un contrato</a:t>
            </a:r>
            <a:endParaRPr lang="en-US" sz="2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247120" cy="210921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 que debes responder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verbo y objeto describen exactamente la capacidad?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¿Cuándo debe elegirla el agente y para qué tipo de consulta?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datos necesita? ¿Qué formato y valores válidos se aceptan?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estructura devuelve? ¿Incluye origen, cantidad de registros o advertencias?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pasa si el dato no existe, el formato es inválido o la fuente falla?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acciones no realiza? ¿Qué datos no debe exponer?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· DE LA DEFINICIÓN AL CÓDIGO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mcp_server.py y api/mcp.py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5486400" cy="3977640"/>
          </a:xfrm>
          <a:prstGeom prst="roundRect">
            <a:avLst>
              <a:gd name="adj" fmla="val 1379"/>
            </a:avLst>
          </a:prstGeom>
          <a:solidFill>
            <a:srgbClr val="0F183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685800" y="170078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mcp_server.py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56816"/>
            <a:ext cx="5120640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fastmcp import FastMCP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= FastMCP("Herramientas del proyecto")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consultar_registros(categoria: str) -&gt; dict: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"""Consulta registros verificados por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categoría. No modifica datos: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 de solo lectura."""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"ok": True,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"cantidad_registros": n,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"registros": resultados[:10],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"fuente": DATA_FILE.name,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6263640" y="1572768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0F183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6446520" y="170078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api/mcp.py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956816"/>
            <a:ext cx="507492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mcp_server import mcp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cada solicitud abre un contexto nuevo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mcp.http_app(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path="/", stateless_http=True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263640" y="370332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6464808" y="3849624"/>
            <a:ext cx="50383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kern="0" spc="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CORRER EL SERVIDOR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api.mcp:app --reload --port 8001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en http://127.0.0.1:8001/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480060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E7F3F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6464808" y="4946904"/>
            <a:ext cx="5038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stateless_http=True es exactamente lo que hace que este servidor encaje en Vercel más adelante (sección 8).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· EL AGENTE ELIGE HERRAMIENTAS LEYENDO TEXTO, NO CÓDIGO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la descripción importa</a:t>
            </a:r>
            <a:endParaRPr lang="en-US" sz="2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247120" cy="121310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 débil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 útil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“Busca datos”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“Consulta registros verificados de asistencia por curso y período. Úsala solo para indicadores agregados; no entrega información individual ni modifica datos.”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“API externa”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“Obtiene el estado actual de una solicitud desde la API autorizada. Requiere ID de solicitud y devuelve estado, fecha de actualización y mensaje de error si no existe.”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206240"/>
            <a:ext cx="11185855" cy="1051560"/>
          </a:xfrm>
          <a:prstGeom prst="roundRect">
            <a:avLst>
              <a:gd name="adj" fmla="val 6957"/>
            </a:avLst>
          </a:prstGeom>
          <a:solidFill>
            <a:srgbClr val="FBF0D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 txBox="1"/>
          <p:nvPr/>
        </p:nvSpPr>
        <p:spPr>
          <a:xfrm>
            <a:off x="704088" y="4352544"/>
            <a:ext cx="10783519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kern="0" spc="80" dirty="0">
                <a:solidFill>
                  <a:srgbClr val="9C6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DESCRIPCIÓN ES LA INTERFAZ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no lee tu código: decide leyendo description. Si es vaga (“busca información”), la usará de más o de menos. Sé específico sobre QUÉ contiene y CUÁNDO conviene.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· NO IMPORTA LA FUNCIÓN PYTHON: DESCUBRE LA TOOL POR PROTOCOLO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Conecta el agente con MCP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E7F3F1"/>
          </a:solidFill>
          <a:ln w="12700">
            <a:solidFill>
              <a:srgbClr val="1F7A7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MultiServerMCPClient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conecta al servidor MCP (transporte http o stdio).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22585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42316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E7F3F1"/>
          </a:solidFill>
          <a:ln w="12700">
            <a:solidFill>
              <a:srgbClr val="1F7A7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640080" y="242316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client.get_tools()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Descubre las tools expuestas — reemplaza la lista manual.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3081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E7F3F1"/>
          </a:solidFill>
          <a:ln w="12700">
            <a:solidFill>
              <a:srgbClr val="1F7A7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640080" y="324612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create_agent(model, tools, system_prompt)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constructor que ya usaste en el PoC.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39044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06908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D9EDE9"/>
          </a:solidFill>
          <a:ln w="12700">
            <a:solidFill>
              <a:srgbClr val="165F5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640080" y="406908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def responder(pregunta)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 al agente y devuelve el último mensaje.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6002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6464808" y="1746504"/>
            <a:ext cx="50383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kern="0" spc="80" dirty="0">
                <a:solidFill>
                  <a:srgbClr val="A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ADVERTENCIA SOBRE ESTADO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MultiServerMCPClient funciona sin estado por defecto: cada invocación puede abrir una sesión nueva. No diseñes memoria o procesos de larga duración sobre esa suposición sin revisarla antes.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32004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6464808" y="3346704"/>
            <a:ext cx="503834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kern="0" spc="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PASAR A DOS SERVIDORES MCP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las fuentes tengan dominios, permisos o ciclos de vida distintos; cuando una capacidad deba consumirse desde otro proyecto de forma independiente; cuando las tools de un mismo archivo dejen de ser cohesionadas. No lo hagas solo porque se vea más avanzado.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E7F3F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6464808" y="5221224"/>
            <a:ext cx="50383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desacople es el punto: la única forma de llegar a la tool es a través del protocolo MCP.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· DEMUESTRA VALOR SIN COMPETIR CON LA ARQUITECTURA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FastAPI y frontend estático</a:t>
            </a:r>
            <a:endParaRPr lang="en-US" sz="27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247120" cy="15087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api/chat.py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Sirve index.html en GET /, monta /static, expone POST /api/chat que llama a responder().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index.html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 mínima: título, historial de mensajes, formulario de pregunta.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static/app.js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a /api/chat (ruta relativa), pinta la respuesta y muestra estado de carga y errores.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static/style.css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Estilo simple, sin frameworks ni build step.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794760"/>
            <a:ext cx="11185855" cy="1051560"/>
          </a:xfrm>
          <a:prstGeom prst="roundRect">
            <a:avLst>
              <a:gd name="adj" fmla="val 5217"/>
            </a:avLst>
          </a:prstGeom>
          <a:solidFill>
            <a:srgbClr val="0F183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 txBox="1"/>
          <p:nvPr/>
        </p:nvSpPr>
        <p:spPr>
          <a:xfrm>
            <a:off x="685800" y="3922776"/>
            <a:ext cx="10820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Correr el backend (con el servidor MCP de 6.3 en otra terminal)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178808"/>
            <a:ext cx="1082009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api.chat:app --reload --port 8000   # abre http://127.0.0.1:8000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5029200"/>
            <a:ext cx="11185855" cy="868680"/>
          </a:xfrm>
          <a:prstGeom prst="roundRect">
            <a:avLst>
              <a:gd name="adj" fmla="val 8421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 txBox="1"/>
          <p:nvPr/>
        </p:nvSpPr>
        <p:spPr>
          <a:xfrm>
            <a:off x="704088" y="5175504"/>
            <a:ext cx="1078351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complejidad real vive un piso más abajo, en agent.py y mcp_server.py — la interfaz solo conversa con el backend.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· ANTES DE DAR POR CERRADO EL FLUJO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debe mostrar la demo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91640"/>
            <a:ext cx="111858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pregunta representativa del caso de uso.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respuesta basada en una tool del servidor MCP.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situación en que no hay evidencia suficiente.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solicitud fuera del alcance que el agente rechaza o redirige.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mensaje comprensible si el servidor MCP no está disponible.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4251960"/>
            <a:ext cx="11185855" cy="1417320"/>
          </a:xfrm>
          <a:prstGeom prst="roundRect">
            <a:avLst>
              <a:gd name="adj" fmla="val 5161"/>
            </a:avLst>
          </a:prstGeom>
          <a:solidFill>
            <a:srgbClr val="FBF0D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704088" y="4398264"/>
            <a:ext cx="10783519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kern="0" spc="80" dirty="0">
                <a:solidFill>
                  <a:srgbClr val="9C6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OCULTE LOS LÍMITES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del MVP no se mide solo por la respuesta correcta. También se mide por cómo reconoce la incertidumbre, explica fallas y evita operar fuera de sus permisos.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 · ANTES DE PASAR A LA SECCIÓN 7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 de punta a punta, en local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783080"/>
            <a:ext cx="1118585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terminales corren sin errores (api.mcp en 8001, api.chat en 8000).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Abriste http://127.0.0.1:8000 y el formulario responde.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Probaste el caso feliz de tu Ficha 1.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Probaste un caso donde falta evidencia — el agente lo reconoce, no inventa.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Apagaste el servidor MCP a propósito y el backend respondió con un error claro, sin caerse.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EL MVP ESTÁ LISTO CUANDO PRODUCE EVIDENCIA REPRODUCIBLE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 de humo y matriz de aceptación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029200" cy="2697480"/>
          </a:xfrm>
          <a:prstGeom prst="roundRect">
            <a:avLst>
              <a:gd name="adj" fmla="val 2034"/>
            </a:avLst>
          </a:prstGeom>
          <a:solidFill>
            <a:srgbClr val="0F183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685800" y="172821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tests/test_smoke.py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84248"/>
            <a:ext cx="4663440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asyncio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agent import responder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main():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await responder(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"[PREGUNTA TÍPICA]")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r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print(r)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asyncio.run(main())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443484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704088" y="4581144"/>
            <a:ext cx="46268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servidor MCP corriendo en otra terminal: python tests/test_smoke.py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00200"/>
          <a:ext cx="5440680" cy="15621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Evidencia esperada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feliz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la tool apropiada y entrega una respuesta útil.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límite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 datos ausentes, no inventa; indica la falta de evidencia.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Fuera de alcance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Rechaza o redirige solicitudes no cubiertas.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inválida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 vacía o mal formada devuelve error claro, sin romper la app.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no disponible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UI comunica la falla sin exponer secretos ni inventar resultados.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TRAZABILIDAD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Depurar con LangSmith, una hipótesis a la vez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traza permite inspeccionar el recorrido de la consulta: entrada, herramienta elegida, parámetros, resultado y respuesta final. El objetivo no es vigilar al equipo, sino poder depurar por qué una decisión del agente fue incorrecta.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532888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502920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514600"/>
            <a:ext cx="10710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respuesta es incorrecta, revisa primero si la tool fue seleccionada.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118104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502920" y="3118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3099816"/>
            <a:ext cx="10710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tool fue correcta, revisa los parámetros enviados.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703320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502920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78408" y="3685032"/>
            <a:ext cx="10710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parámetros fueron correctos, revisa el resultado de la fuente.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288536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502920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78408" y="4270248"/>
            <a:ext cx="10710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resultado fue correcto, revisa el system prompt y la síntesis final.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873752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502920" y="4873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78408" y="4855464"/>
            <a:ext cx="10710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 una hipótesis por vez y vuelve a ejecutar los casos de aceptación.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029200" cy="50292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9875520" y="393192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5029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6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8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6974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Despliegue opcional en Vercel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70332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correr en tu máquina a tener una URL pública real — el paso que este deck deja con espacio dedicado.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4434840"/>
            <a:ext cx="4206240" cy="329184"/>
          </a:xfrm>
          <a:prstGeom prst="roundRect">
            <a:avLst>
              <a:gd name="adj" fmla="val 3888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502920" y="44348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OPCIONAL · NO ES REQUISITO DE ENTREGA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POR QUÉ ESTO SÍ FUNCIONA (Y STREAMLIT NO)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+ FastMCP son apps ASGI estándar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0020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corre funciones que se levantan por solicitud, no un proceso que vive para siempre — por eso Streamlit no es desplegable ahí: necesita un servidor propio con estado en memoria.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42316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y FastMCP, en cambio, son aplicaciones ASGI estándar, y Vercel las ejecuta de forma nativa, con soporte real de WebSockets si lo necesitaran más adelante.</a:t>
            </a:r>
            <a:endParaRPr lang="en-US" sz="1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429000"/>
          <a:ext cx="11247120" cy="88544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de ejecución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Vercel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 propio, con estado en memoria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compatible con funciones serverless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+ FastMCP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Aplicación ASGI estándar, sin estado entre solicitudes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 nativamente en Vercel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709160"/>
            <a:ext cx="11185855" cy="1051560"/>
          </a:xfrm>
          <a:prstGeom prst="roundRect">
            <a:avLst>
              <a:gd name="adj" fmla="val 6957"/>
            </a:avLst>
          </a:prstGeom>
          <a:solidFill>
            <a:srgbClr val="E7F3F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 txBox="1"/>
          <p:nvPr/>
        </p:nvSpPr>
        <p:spPr>
          <a:xfrm>
            <a:off x="704088" y="4855464"/>
            <a:ext cx="10783519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modo stateless_http=True que ya activaste en 6.3 es exactamente lo que hace que el servidor MCP encaje aquí: cada solicitud abre un contexto nuevo, así que no importa si dos solicitudes llegan a instancias distintas.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LA SIMPLIFICACIÓN QUE VAS A HACER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dos procesos a una sola app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361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LOCAL (sección 6)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F5F7FA"/>
          </a:solidFill>
          <a:ln w="12700">
            <a:solidFill>
              <a:srgbClr val="5A6B8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api/chat.py  ·  puerto 8000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interfaz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239572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542032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F5F7FA"/>
          </a:solidFill>
          <a:ln w="12700">
            <a:solidFill>
              <a:srgbClr val="5A6B8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640080" y="254203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api/mcp.py  ·  puerto 8001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tools, aislado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063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total — permite probar de verdad “MCP no disponible”.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228600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15361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VERCEL (sección 8)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0" y="1828800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D9EDE9"/>
          </a:solidFill>
          <a:ln w="12700">
            <a:solidFill>
              <a:srgbClr val="165F5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6720840" y="182880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api/index.py  ·  una sola app FastAPI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 mcp_asgi en /api/mcp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606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Pierdes el aislamiento total; ganas un despliegue que corre con cuenta gratuita y cero configuración exótica.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977640"/>
            <a:ext cx="11185855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704088" y="4123944"/>
            <a:ext cx="1078351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b="1" kern="0" spc="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QUIEREN MANTENER EL AISLAMIENTO TAMBIÉN EN PRODUCCIÓN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tiene “Services”, pensado para correr un backend Python y un frontend por separado. Queda fuera del alcance de esta guía — es el siguiente paso natural si sobra tiempo.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507492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gratuita en vercel.com.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instalado, para poder correr: npm install -g vercel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PASO 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 la versión unificada para el deploy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36192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la carpeta api/ con solo este archivo — mueve chat.py y mcp.py a una carpeta de respaldo (por ejemplo local/), así Vercel no tiene dudas sobre cuál es el punto de entrada.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11185855" cy="4160520"/>
          </a:xfrm>
          <a:prstGeom prst="roundRect">
            <a:avLst>
              <a:gd name="adj" fmla="val 1319"/>
            </a:avLst>
          </a:prstGeom>
          <a:solidFill>
            <a:srgbClr val="0F183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685800" y="2276856"/>
            <a:ext cx="10820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api/index.py — versión unificada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32888"/>
            <a:ext cx="10820095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2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FastAPI</a:t>
            </a:r>
            <a:endParaRPr lang="en-US" sz="102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2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fastapi.staticfiles import StaticFiles</a:t>
            </a:r>
            <a:endParaRPr lang="en-US" sz="102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2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mcp_server import mcp</a:t>
            </a:r>
            <a:endParaRPr lang="en-US" sz="102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2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agent import responder</a:t>
            </a:r>
            <a:endParaRPr lang="en-US" sz="1020" dirty="0"/>
          </a:p>
          <a:p>
            <a:pPr marL="0" indent="0">
              <a:lnSpc>
                <a:spcPct val="118000"/>
              </a:lnSpc>
              <a:buNone/>
            </a:pPr>
            <a:endParaRPr lang="en-US" sz="102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2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path="/": deja la ruta interna de FastMCP relativa a donde la montemos</a:t>
            </a:r>
            <a:endParaRPr lang="en-US" sz="102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2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mcp_asgi = mcp.http_app(path="/", stateless_http=True)</a:t>
            </a:r>
            <a:endParaRPr lang="en-US" sz="1020" dirty="0"/>
          </a:p>
          <a:p>
            <a:pPr marL="0" indent="0">
              <a:lnSpc>
                <a:spcPct val="118000"/>
              </a:lnSpc>
              <a:buNone/>
            </a:pPr>
            <a:endParaRPr lang="en-US" sz="102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2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FastMCP administra su propio lifespan — se lo pasamos a la app principal</a:t>
            </a:r>
            <a:endParaRPr lang="en-US" sz="102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2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FastAPI(title="MVP con MCP", lifespan=mcp_asgi.lifespan)</a:t>
            </a:r>
            <a:endParaRPr lang="en-US" sz="102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2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app.mount("/api/mcp", mcp_asgi)</a:t>
            </a:r>
            <a:endParaRPr lang="en-US" sz="102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2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app.mount("/static", StaticFiles(directory=ROOT / "static"), name="static")</a:t>
            </a:r>
            <a:endParaRPr lang="en-US" sz="1020" dirty="0"/>
          </a:p>
          <a:p>
            <a:pPr marL="0" indent="0">
              <a:lnSpc>
                <a:spcPct val="118000"/>
              </a:lnSpc>
              <a:buNone/>
            </a:pPr>
            <a:endParaRPr lang="en-US" sz="102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2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@app.get("/")</a:t>
            </a:r>
            <a:endParaRPr lang="en-US" sz="102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2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index(): ...          # FileResponse(ROOT / "index.html")</a:t>
            </a:r>
            <a:endParaRPr lang="en-US" sz="1020" dirty="0"/>
          </a:p>
          <a:p>
            <a:pPr marL="0" indent="0">
              <a:lnSpc>
                <a:spcPct val="118000"/>
              </a:lnSpc>
              <a:buNone/>
            </a:pPr>
            <a:endParaRPr lang="en-US" sz="102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2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@app.post("/api/chat")</a:t>
            </a:r>
            <a:endParaRPr lang="en-US" sz="102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2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chat(payload): ...    # await responder(payload.pregunta)</a:t>
            </a:r>
            <a:endParaRPr lang="en-US" sz="102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PASO 2 Y 3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 deploy y variables de entorno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0F183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685800" y="172821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2 · primer deploy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84248"/>
            <a:ext cx="484632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vercel login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vercel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responde nombre del proyecto y directorio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obtienes una URL de preview: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https://mi-mvp-mcp.vercel.app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440680" cy="2331720"/>
          </a:xfrm>
          <a:prstGeom prst="roundRect">
            <a:avLst>
              <a:gd name="adj" fmla="val 2353"/>
            </a:avLst>
          </a:prstGeom>
          <a:solidFill>
            <a:srgbClr val="0F183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6446520" y="172821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3 · variables de entorno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984248"/>
            <a:ext cx="507492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vercel env add MODEL_ID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vercel env add OPENROUTER_API_KEY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vercel env add OPENROUTER_BASE_URL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vercel env add MCP_URL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valor: https://mi-mvp-mcp.vercel.app/api/mcp</a:t>
            </a:r>
            <a:endParaRPr lang="en-US" sz="108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vercel --prod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02920" y="352044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704088" y="3666744"/>
            <a:ext cx="480974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kern="0" spc="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MCP_URL CAMBIA RESPECTO AL LOCAL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Recién ahora conoces tu dominio real: en Vercel, MCP_URL debe apuntar al mismo dominio del proyecto, no a 127.0.0.1.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416052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6464808" y="4306824"/>
            <a:ext cx="50383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puedes hacerlo desde el dashboard (Project Settings → Environment Variables). Nunca subas tu .env real — solo .env.example va en el repositorio.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PASO 4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cada pieza por separado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3619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prueben el chat completo como primer intento. De abajo hacia arriba, igual que depurarían cualquier sistema en capas: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075688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502920" y="2075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057400"/>
            <a:ext cx="1071036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https://tu-proyecto.vercel.app/api/mcp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Deberían ver una respuesta del protocolo MCP — no una página de error 404.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807208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502920" y="2807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2788920"/>
            <a:ext cx="107103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https://tu-proyecto.vercel.app/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que carga la interfaz.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419856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502920" y="3419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78408" y="3401568"/>
            <a:ext cx="107103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Recién entonces, haz una pregunta real desde el chat.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343400"/>
            <a:ext cx="11185855" cy="1600200"/>
          </a:xfrm>
          <a:prstGeom prst="roundRect">
            <a:avLst>
              <a:gd name="adj" fmla="val 4571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704088" y="4489704"/>
            <a:ext cx="10783519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kern="0" spc="80" dirty="0">
                <a:solidFill>
                  <a:srgbClr val="A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/API/MCP DA 404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los logs de la función en el dashboard (Deployments → tu deploy → Functions). Es el punto donde más suelen atascarse los despliegues de MCP en serverless — normalmente por una ruta interna que no coincide con la externa. Confirma que mcp.http_app(path="/", …) siga así y que el mount sea exactamente app.mount("/api/mcp", mcp_asgi).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ANTES DE DAR POR CERRADO EL DESPLIEGUE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a vigilar</a:t>
            </a:r>
            <a:endParaRPr lang="en-US" sz="27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247120" cy="1147572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Duración máxima de función (5 min por defecto)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sobra para un turno normal, pero con modelo gratuito la latencia es menos predecible. Pruébalo temprano.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Tamaño del bundle de Python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Revisa que requirements.txt no traiga nada de más. LangChain y sus dependencias no son livianas.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de entorno filtradas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Nunca comitees .env. Verifica que los logs de la función no impriman claves ni tokens.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429000"/>
            <a:ext cx="11185855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 txBox="1"/>
          <p:nvPr/>
        </p:nvSpPr>
        <p:spPr>
          <a:xfrm>
            <a:off x="704088" y="3575304"/>
            <a:ext cx="10783519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kern="0" spc="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“VERCEL DEV” (OPCIONAL, CON CAUTELA)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reportes de la comunidad de rutas /api que devuelven 404 en vercel dev con backends Python. Si no funciona en un par de minutos, sáltenlo y usen vercel deploy directo.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02920" y="4617720"/>
            <a:ext cx="11185855" cy="1234440"/>
          </a:xfrm>
          <a:prstGeom prst="roundRect">
            <a:avLst>
              <a:gd name="adj" fmla="val 5926"/>
            </a:avLst>
          </a:prstGeom>
          <a:solidFill>
            <a:srgbClr val="E7F3F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 txBox="1"/>
          <p:nvPr/>
        </p:nvSpPr>
        <p:spPr>
          <a:xfrm>
            <a:off x="704088" y="4764024"/>
            <a:ext cx="10783519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kern="0" spc="80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ALCANZAN A CERRARLO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fracaso. Documenten qué intentaron, en qué paso se atascaron y qué encontraron en los logs — es evidencia tan válida como un deploy exitoso, y el mismo tipo de registro que ya practicaron en el PoC.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ANTES DE PEDIR CÓDIGO: PREPARA UN CONTEXTO MÍNIMO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 / AGENTS.md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Codex y herramientas similares pueden acelerar el trabajo, pero no reemplazan las decisiones de diseño. Entrega contexto, pide un plan y revisa cada cambio.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6583680" cy="3566160"/>
          </a:xfrm>
          <a:prstGeom prst="roundRect">
            <a:avLst>
              <a:gd name="adj" fmla="val 1538"/>
            </a:avLst>
          </a:prstGeom>
          <a:solidFill>
            <a:srgbClr val="0F183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685800" y="218541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 / AGENTS.md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41448"/>
            <a:ext cx="621792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Producto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Equipo [NOMBRE]. MVP para [USUARIO] que resuelve [PROBLEMA].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Alcance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 hace: [CAPACIDAD PRINCIPAL].  NO hace: [LÍMITES].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Arquitectura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estático · FastAPI en api/chat.py · agent.py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(create_agent, MultiServerMCPClient) · FastMCP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stateless_http=True · Vercel opcional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Reglas de desarrollo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inventes paquetes ni APIs · lee y propone un plan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 de editar · no borres sin confirmar · una sola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responsabilidad por archivo · nunca secretos en código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7635240" y="2057400"/>
            <a:ext cx="4069080" cy="3566160"/>
          </a:xfrm>
          <a:prstGeom prst="roundRect">
            <a:avLst>
              <a:gd name="adj" fmla="val 2051"/>
            </a:avLst>
          </a:prstGeom>
          <a:solidFill>
            <a:srgbClr val="E7F3F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7836408" y="2203704"/>
            <a:ext cx="366674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kern="0" spc="80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DE TRABAJO RECOMENDADO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primero: “analiza, explica el plan y espera mi aprobación”. Luego solicita cambios pequeños. Revisa el diff, ejecuta la aplicación y valida los criterios de aceptación antes de pasar al siguiente hito.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DIEZ PROMPTS LISTOS PARA COPIAR Y ADAPTAR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 para trabajar con un agente de codificación</a:t>
            </a:r>
            <a:endParaRPr lang="en-US" sz="27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5440680" cy="1717548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Auditoría del PoC antes de migrar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el esqueleto sin sobrearquitectura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Implementar una tool FastMCP segura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Integrar el agente con MCP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el backend FastAPI y el frontend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00200"/>
          <a:ext cx="5440680" cy="1717548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pruebas de aceptación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Depurar un error sin reescribir todo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Revisión de seguridad y alcance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Preparar el proyecto para Vercel (opcional)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Revisión final antes de la entrega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4617720"/>
            <a:ext cx="11185855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3"/>
          <p:cNvSpPr txBox="1"/>
          <p:nvPr/>
        </p:nvSpPr>
        <p:spPr>
          <a:xfrm>
            <a:off x="704088" y="4764024"/>
            <a:ext cx="10783519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kern="0" spc="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ADAPTAR POR HERRAMIENTA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Code: CLAUDE.md + plan antes de editar. Codex: AGENTS.md + tareas concretas. Cursor: Rules/AGENTS.md + Plan Mode para arquitectura. Antigravity: Workspace + Rules/Workflows persistentes. Todos: contexto persistente, plan breve, cambios pequeños, pruebas ejecutadas, diff revisado.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9" name="Text 5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TU RESPONSABILIDAD AL USAR AGENTES DE CODIFICACIÓN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no negociables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91640"/>
            <a:ext cx="5440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pegues claves API, tokens ni datos personales reales en chats o prompts.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comitas .env. Versiona solamente .env.example.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Mantén los datos de demostración anonimizados y mínimos.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MVP, usa tools de solo lectura cuando sea posible.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 permisos de borrado o administración por conveniencia.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691640"/>
            <a:ext cx="5440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los diffs antes de aceptar cambios del agente.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rutas antes de borrar o limpiar archivos.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Mantén Git activo; haz commits pequeños tras cada hito estable.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declares que algo funciona si no ejecutaste la prueba.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despliegue opcional, no dejes claves visibles en logs de Vercel.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ERRORES FRECUENTES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cómo corregirlos</a:t>
            </a:r>
            <a:endParaRPr lang="en-US" sz="27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27632"/>
          <a:ext cx="11247120" cy="2202180"/>
        </p:xfrm>
        <a:graphic>
          <a:graphicData uri="http://schemas.openxmlformats.org/drawingml/2006/table">
            <a:tbl>
              <a:tblPr/>
              <a:tblGrid>
                <a:gridCol w="521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frecuente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Corrección práctica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varios servidores MCP antes de tener uno funcionando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a una capacidad central y publica una sola tool usable.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demasiado genérica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nombre y parámetros concretos; explica cuándo debe usarla el agente.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o acceso directo a datos en el frontend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Mueve la consulta al servidor MCP. La interfaz solo conversa con el backend.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genérico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Escribe alcance, usuario, evidencia, incertidumbre y restricciones de la Ficha 1.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 bonita pero no verificable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Devuelve fuente, cantidad de registros y advertencias cuando corresponda.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Pedirle al agente de codificación que “haga todo”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 en auditoría, plan, esqueleto, tool, integración, interfaz, pruebas y revisión.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Olvidar la variable app a nivel de módulo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eso, ni uvicorn ni Vercel pueden servir la aplicación.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EL MVP DEBE SER PEQUEÑO, CLARO Y DEMOSTRABLE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de entrega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00200"/>
            <a:ext cx="5440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3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1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 con la estructura simplificada.</a:t>
            </a:r>
            <a:endParaRPr lang="en-US" sz="113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3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1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con instalación, variables y limitaciones.</a:t>
            </a:r>
            <a:endParaRPr lang="en-US" sz="113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3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1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FastMCP en modo stateless con una tool real.</a:t>
            </a:r>
            <a:endParaRPr lang="en-US" sz="113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3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1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que descubre tools por MultiServerMCPClient.</a:t>
            </a:r>
            <a:endParaRPr lang="en-US" sz="113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3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1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estática funcional, servida por el backend.</a:t>
            </a:r>
            <a:endParaRPr lang="en-US" sz="113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600200"/>
            <a:ext cx="5440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3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1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con alcance y política de no invención.</a:t>
            </a:r>
            <a:endParaRPr lang="en-US" sz="113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3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1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demostración o conexión segura y justificada.</a:t>
            </a:r>
            <a:endParaRPr lang="en-US" sz="113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3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1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caso feliz, límite y fuera de alcance.</a:t>
            </a:r>
            <a:endParaRPr lang="en-US" sz="113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3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1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decisiones: qué se reutilizó del PoC.</a:t>
            </a:r>
            <a:endParaRPr lang="en-US" sz="113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30" b="1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1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(Bonus) Una URL de Vercel funcionando y verificada.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502920" y="3977640"/>
            <a:ext cx="11185855" cy="1828800"/>
          </a:xfrm>
          <a:prstGeom prst="roundRect">
            <a:avLst>
              <a:gd name="adj" fmla="val 4000"/>
            </a:avLst>
          </a:prstGeom>
          <a:solidFill>
            <a:srgbClr val="E7F3F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704088" y="4123944"/>
            <a:ext cx="10783519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kern="0" spc="80" dirty="0">
                <a:solidFill>
                  <a:srgbClr val="16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ÉXITO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puede mostrar que un usuario realiza una consulta real desde el navegador, el agente elige una herramienta MCP autorizada, la respuesta se apoya en evidencia, y el sistema reconoce sus límites con claridad — todo corriendo en local, sin depender de que el despliegue en Vercel haya funcionado.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RÚBRICA DE AUTOEVALUACIÓN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Nueve criterios, escala 0 / 1 / 2</a:t>
            </a:r>
            <a:endParaRPr lang="en-US" sz="27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247120" cy="26593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 / 2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del caso de uso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 genérico → 2: problema, usuario y alcance concretos.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 de la tool MCP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 simulada → 2: contrato, validación, fuente y restricciones explícitas.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Orquestación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 import directo → 2: tools descubiertas por cliente MCP.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Interfaz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 no demostrable → 2: permite probar flujo, carga y errores básicos.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 de incertidumbre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 inexistente → 2: visible en casos límite y fuera de alcance.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y evidencia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 demo aislada → 2: criterios documentados y prueba reproducible.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 y datos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 secretos expuestos → 2: aislados, datos de demo, permisos mínimos.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Proporción del MVP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 sobrearquitectura → 2: complejidad coherente con el valor demostrado.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Continuidad con el PoC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 desconectado → 2: los casos de prueba se apoyan en la evidencia del PoC.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FUENTES VERIFICADAS AL MOMENTO DE ELABORAR ESTA GUÍA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 técnicas</a:t>
            </a:r>
            <a:endParaRPr lang="en-US" sz="27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27632"/>
          <a:ext cx="11247120" cy="2226564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en esta guía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FastMCP — HTTP Deployment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Modo stateless_http, http_app() y despliegue de servidores MCP sobre ASGI.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— Model Context Protocol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MultiServerMCPClient, transporte HTTP, descubrimiento de tools.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/ LangGraph — anuncio v1.0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Vigencia de create_agent como API recomendada.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langchain-mcp-adapters (PyPI)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 mínima 0.3.0+ para manejo de errores sin excepciones.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— Python Runtime / Functions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Convención de enrutamiento por archivo, variable app, límites.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— WebSockets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 nativo y por qué Streamlit queda fuera de ese modelo.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Community — Deploy en Vercel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Confirmación directa: no es una plataforma soportada para esa app.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59893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interfaces y APIs cambian con rapidez: antes de implementar, confirma contra la documentación oficial vigente.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50292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37744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MVP local ya es un entregable completo.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5204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es la guinda del pastel, no el requisito de entrega.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3434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EB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pasos: 6.0 → elegir la capacidad · 6.1-6.5 → construir en local · 6.6-7 → probar y documentar · 8 → intentar el despliegue si el tiempo alcanza.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 PROJECT · DEL PoC AL MVP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6418</Words>
  <Application>Microsoft Macintosh PowerPoint</Application>
  <PresentationFormat>Panorámica</PresentationFormat>
  <Paragraphs>774</Paragraphs>
  <Slides>41</Slides>
  <Notes>41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46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 PoC al MVP</dc:title>
  <dc:subject>PptxGenJS Presentation</dc:subject>
  <dc:creator>AI Project</dc:creator>
  <cp:lastModifiedBy>ignacio zambrano</cp:lastModifiedBy>
  <cp:revision>2</cp:revision>
  <dcterms:created xsi:type="dcterms:W3CDTF">2026-09-02T01:29:42Z</dcterms:created>
  <dcterms:modified xsi:type="dcterms:W3CDTF">2026-09-02T03:09:57Z</dcterms:modified>
</cp:coreProperties>
</file>